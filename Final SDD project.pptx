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33" r:id="rId5"/>
    <p:sldId id="360" r:id="rId6"/>
    <p:sldId id="338" r:id="rId7"/>
    <p:sldId id="361" r:id="rId8"/>
    <p:sldId id="362" r:id="rId9"/>
    <p:sldId id="363" r:id="rId10"/>
    <p:sldId id="339" r:id="rId11"/>
    <p:sldId id="304" r:id="rId12"/>
    <p:sldId id="354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35" autoAdjust="0"/>
  </p:normalViewPr>
  <p:slideViewPr>
    <p:cSldViewPr snapToGrid="0">
      <p:cViewPr varScale="1">
        <p:scale>
          <a:sx n="88" d="100"/>
          <a:sy n="88" d="100"/>
        </p:scale>
        <p:origin x="100" y="3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4/28/26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ABC Church </a:t>
            </a:r>
            <a:br>
              <a:rPr lang="en-US" altLang="zh-CN" dirty="0"/>
            </a:br>
            <a:r>
              <a:rPr lang="en-US" altLang="zh-CN" dirty="0"/>
              <a:t>System </a:t>
            </a:r>
            <a:r>
              <a:rPr lang="en-US" altLang="zh-CN"/>
              <a:t>Designs </a:t>
            </a:r>
            <a:endParaRPr lang="en-US" altLang="zh-C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cs typeface="Arial"/>
              </a:rPr>
              <a:t>Taki Swanson</a:t>
            </a:r>
            <a:endParaRPr lang="en-US" altLang="zh-CN" dirty="0">
              <a:cs typeface="Arial"/>
            </a:endParaRPr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anchor="t">
            <a:normAutofit/>
          </a:bodyPr>
          <a:lstStyle/>
          <a:p>
            <a:r>
              <a:rPr lang="en-US" altLang="zh-CN"/>
              <a:t>Agenda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48079-FEFD-F39A-9351-8E8FF782197D}"/>
              </a:ext>
            </a:extLst>
          </p:cNvPr>
          <p:cNvSpPr txBox="1"/>
          <p:nvPr/>
        </p:nvSpPr>
        <p:spPr>
          <a:xfrm>
            <a:off x="1313234" y="1750978"/>
            <a:ext cx="614463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>
                <a:latin typeface="Constantia"/>
                <a:cs typeface="Arial"/>
              </a:rPr>
              <a:t>System options for church</a:t>
            </a:r>
            <a:endParaRPr lang="en-US" dirty="0">
              <a:latin typeface="Constantia"/>
            </a:endParaRPr>
          </a:p>
          <a:p>
            <a:pPr marL="457200" indent="-457200">
              <a:buFont typeface="Arial"/>
              <a:buChar char="•"/>
            </a:pPr>
            <a:endParaRPr lang="en-US" sz="3200" dirty="0">
              <a:latin typeface="Constantia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Constantia"/>
                <a:cs typeface="Arial"/>
              </a:rPr>
              <a:t>Floor-plan</a:t>
            </a:r>
          </a:p>
          <a:p>
            <a:pPr marL="457200" indent="-457200">
              <a:buFont typeface="Arial"/>
              <a:buChar char="•"/>
            </a:pPr>
            <a:endParaRPr lang="en-US" sz="3200" dirty="0">
              <a:latin typeface="Constantia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Constantia"/>
                <a:cs typeface="Arial"/>
              </a:rPr>
              <a:t>Takeaways &amp; suggestions </a:t>
            </a:r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/>
          <a:lstStyle/>
          <a:p>
            <a:r>
              <a:rPr lang="en-US" dirty="0"/>
              <a:t>System Improvements Needs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en-US" sz="3200" dirty="0">
                <a:latin typeface="Constantia"/>
                <a:ea typeface="Calibri"/>
                <a:cs typeface="Calibri"/>
              </a:rPr>
              <a:t>Reporting</a:t>
            </a:r>
          </a:p>
          <a:p>
            <a:pPr marL="285750" indent="-285750">
              <a:buChar char="•"/>
            </a:pPr>
            <a:r>
              <a:rPr lang="en-US" sz="3200" dirty="0">
                <a:latin typeface="Constantia"/>
                <a:ea typeface="Calibri"/>
                <a:cs typeface="Calibri"/>
              </a:rPr>
              <a:t>Communication</a:t>
            </a:r>
          </a:p>
          <a:p>
            <a:pPr marL="285750" indent="-285750">
              <a:buChar char="•"/>
            </a:pPr>
            <a:r>
              <a:rPr lang="en-US" sz="3200" dirty="0">
                <a:latin typeface="Constantia"/>
                <a:ea typeface="Calibri"/>
                <a:cs typeface="Calibri"/>
              </a:rPr>
              <a:t>Record keeping</a:t>
            </a:r>
          </a:p>
          <a:p>
            <a:pPr marL="285750" indent="-285750">
              <a:buChar char="•"/>
            </a:pPr>
            <a:r>
              <a:rPr lang="en-US" sz="3200" dirty="0">
                <a:latin typeface="Constantia"/>
                <a:ea typeface="Calibri"/>
                <a:cs typeface="Calibri"/>
              </a:rPr>
              <a:t>Filing</a:t>
            </a:r>
          </a:p>
          <a:p>
            <a:pPr marL="285750" indent="-285750">
              <a:buChar char="•"/>
            </a:pPr>
            <a:endParaRPr lang="en-US" sz="3200" dirty="0">
              <a:latin typeface="Constantia"/>
              <a:ea typeface="Calibri"/>
              <a:cs typeface="Calibri"/>
            </a:endParaRPr>
          </a:p>
        </p:txBody>
      </p:sp>
      <p:pic>
        <p:nvPicPr>
          <p:cNvPr id="16" name="Picture Placeholder 15" descr="Low angle shot of three modern glass skyscrapers.">
            <a:extLst>
              <a:ext uri="{FF2B5EF4-FFF2-40B4-BE49-F238E27FC236}">
                <a16:creationId xmlns:a16="http://schemas.microsoft.com/office/drawing/2014/main" id="{B147720E-1C98-6E44-850F-81313654BE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" r="48"/>
          <a:stretch/>
        </p:blipFill>
        <p:spPr>
          <a:xfrm>
            <a:off x="7357442" y="831919"/>
            <a:ext cx="3949885" cy="5194161"/>
          </a:xfrm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3972-BC8F-F375-56E2-B6733565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35" y="-352079"/>
            <a:ext cx="10504000" cy="1135871"/>
          </a:xfrm>
        </p:spPr>
        <p:txBody>
          <a:bodyPr/>
          <a:lstStyle/>
          <a:p>
            <a:r>
              <a:rPr lang="en-US" dirty="0"/>
              <a:t>Option 1 – Add on to legacy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CB629-0F93-E5A7-38FE-6B5FDE6302B3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1902" y="783792"/>
            <a:ext cx="10504000" cy="607420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Keep current database + simple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Scheduling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Shared Google Calendar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Set reoccurring events (rehearsals, ceremonies, etc)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Part-time work schedules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Communication &amp; Reminders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Google voice/email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Live person answers phone if no one else does &amp; lives church the messages.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Text message reminders &amp; updates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Revenue tracking &amp; reporting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Excel spreadsheets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 Track offerings &amp; pledges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Manual reports to HQ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Who</a:t>
            </a:r>
            <a:r>
              <a:rPr lang="en-US" altLang="zh-CN" sz="1400" dirty="0"/>
              <a:t> </a:t>
            </a:r>
            <a:r>
              <a:rPr lang="en-US" altLang="zh-CN" sz="1400" b="1" dirty="0"/>
              <a:t>manages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Hire contract developer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Train staff to manage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D3E24-233E-6B6C-196C-0F514339997C}"/>
              </a:ext>
            </a:extLst>
          </p:cNvPr>
          <p:cNvSpPr txBox="1"/>
          <p:nvPr/>
        </p:nvSpPr>
        <p:spPr>
          <a:xfrm>
            <a:off x="8361881" y="1232277"/>
            <a:ext cx="350821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Total Cost of Ownership(TCO)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Set up – 4k to 10k(1</a:t>
            </a:r>
            <a:r>
              <a:rPr lang="en-US" altLang="zh-CN" sz="1400" baseline="30000" dirty="0"/>
              <a:t>st</a:t>
            </a:r>
            <a:r>
              <a:rPr lang="en-US" altLang="zh-CN" sz="1400" dirty="0"/>
              <a:t> year)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Monthly - $40 to $140</a:t>
            </a:r>
            <a:endParaRPr lang="en-US" sz="14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 to 8 weeks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8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04" y="-314486"/>
            <a:ext cx="10504000" cy="1135871"/>
          </a:xfrm>
        </p:spPr>
        <p:txBody>
          <a:bodyPr/>
          <a:lstStyle/>
          <a:p>
            <a:r>
              <a:rPr lang="en-US" dirty="0"/>
              <a:t>Option 2  - Cloud based provider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A21DF-28FF-8FFE-C51B-4D6D19EE635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80535" y="821385"/>
            <a:ext cx="10504000" cy="4389103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4800" b="1" dirty="0"/>
              <a:t>Planning 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Widely used church management software offering interconnected apps functioned as one unified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4800" b="1" dirty="0"/>
              <a:t>Services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Worship scheduling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Team coordination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Event registration  &amp; reminders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Customized reports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Automated reminders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Phone message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4800" b="1" dirty="0"/>
              <a:t>People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Member database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Title profiles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4800" b="1" dirty="0"/>
              <a:t>Check-Ins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Attendance(Physical or Virtual)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Children’s daycare/bible study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Volunteers schedule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4800" b="1" dirty="0"/>
              <a:t>Giving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Donations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Pledges &amp; upcoming due dates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Tax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4800" b="1" dirty="0"/>
              <a:t>Groups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Choir, bible study, volunteers, pastors, etc.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4800" dirty="0"/>
              <a:t>Announcements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3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69600-2BDB-330E-AAC5-8F175BF1FB62}"/>
              </a:ext>
            </a:extLst>
          </p:cNvPr>
          <p:cNvSpPr txBox="1"/>
          <p:nvPr/>
        </p:nvSpPr>
        <p:spPr>
          <a:xfrm>
            <a:off x="6560729" y="1647512"/>
            <a:ext cx="462380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Who manages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Vendor set up &amp; maintenance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Staff training provided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Total Cost of  Ownership(TCO)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Set up- $75 to $150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Monthly- $75 to $150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Yearly- $1000 to $2000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Implementation</a:t>
            </a:r>
            <a:r>
              <a:rPr lang="en-US" altLang="zh-CN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6 to 12 weeks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126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ABC Church Layout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BC152E-407B-691B-170B-2E8B560A4F24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1276251"/>
            <a:ext cx="7347537" cy="43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96E95-9B0C-4EC1-9980-C3F4F6A5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" y="0"/>
            <a:ext cx="6135624" cy="1016498"/>
          </a:xfrm>
        </p:spPr>
        <p:txBody>
          <a:bodyPr/>
          <a:lstStyle/>
          <a:p>
            <a:r>
              <a:rPr lang="en-US" dirty="0"/>
              <a:t>Takeaways &amp; Suggestions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56FB-552F-5A4B-085F-DC35C50D474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5386" y="1508910"/>
            <a:ext cx="6241267" cy="4051921"/>
          </a:xfrm>
        </p:spPr>
        <p:txBody>
          <a:bodyPr lIns="0" tIns="0" rIns="0" bIns="0">
            <a:noAutofit/>
          </a:bodyPr>
          <a:lstStyle/>
          <a:p>
            <a:r>
              <a:rPr lang="en-US" altLang="zh-CN" dirty="0"/>
              <a:t>Option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Low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Familiar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Quick set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Still requires manual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Tools are not in one place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Harder to scale growth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pic>
        <p:nvPicPr>
          <p:cNvPr id="14" name="Picture Placeholder 13" descr="Two people collaborating at a computer.">
            <a:extLst>
              <a:ext uri="{FF2B5EF4-FFF2-40B4-BE49-F238E27FC236}">
                <a16:creationId xmlns:a16="http://schemas.microsoft.com/office/drawing/2014/main" id="{4A5C565C-5FD3-821D-1BF8-583E98BD97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" r="41"/>
          <a:stretch/>
        </p:blipFill>
        <p:spPr>
          <a:xfrm>
            <a:off x="7300452" y="831918"/>
            <a:ext cx="4006875" cy="519416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04E553-56D1-9433-A93E-CA03B47BB36F}"/>
              </a:ext>
            </a:extLst>
          </p:cNvPr>
          <p:cNvSpPr txBox="1"/>
          <p:nvPr/>
        </p:nvSpPr>
        <p:spPr>
          <a:xfrm>
            <a:off x="3356019" y="1327505"/>
            <a:ext cx="37987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Option 2 (Recommended)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Everything in one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Automated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Ease of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Grows with the church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Smartphone compatible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Monthly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Training is required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Existing data needs to be moved to new system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CC88-FFA5-1240-50B7-58E84472FF1E}"/>
              </a:ext>
            </a:extLst>
          </p:cNvPr>
          <p:cNvSpPr txBox="1"/>
          <p:nvPr/>
        </p:nvSpPr>
        <p:spPr>
          <a:xfrm>
            <a:off x="564164" y="4774572"/>
            <a:ext cx="5583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Suggestions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Additional desktop &amp; a laptop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Creating social media accounts for exposure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Referral program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At-the-door check-in system</a:t>
            </a:r>
          </a:p>
        </p:txBody>
      </p:sp>
    </p:spTree>
    <p:extLst>
      <p:ext uri="{BB962C8B-B14F-4D97-AF65-F5344CB8AC3E}">
        <p14:creationId xmlns:p14="http://schemas.microsoft.com/office/powerpoint/2010/main" val="285916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E8F9D9-6D90-40C5-6832-49420648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Q &amp; A</a:t>
            </a:r>
            <a:endParaRPr lang="en-CN"/>
          </a:p>
        </p:txBody>
      </p:sp>
      <p:pic>
        <p:nvPicPr>
          <p:cNvPr id="4" name="Picture Placeholder 3" descr="Person using tablet">
            <a:extLst>
              <a:ext uri="{FF2B5EF4-FFF2-40B4-BE49-F238E27FC236}">
                <a16:creationId xmlns:a16="http://schemas.microsoft.com/office/drawing/2014/main" id="{3ED24B98-B22E-039A-78A4-894C6D3366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44"/>
            </a:stretch>
          </a:blipFill>
        </p:spPr>
      </p:pic>
      <p:pic>
        <p:nvPicPr>
          <p:cNvPr id="9" name="Picture Placeholder 8" descr="Man reading from iPad">
            <a:extLst>
              <a:ext uri="{FF2B5EF4-FFF2-40B4-BE49-F238E27FC236}">
                <a16:creationId xmlns:a16="http://schemas.microsoft.com/office/drawing/2014/main" id="{C4FB4637-57D8-FA9A-0D99-E8BDF238F1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2312" y="2833425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50717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476" y="1153634"/>
            <a:ext cx="5184248" cy="4550732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6256866" cy="6858000"/>
          </a:xfrm>
        </p:spPr>
      </p:pic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21705155-b4ce-4c69-95dc-4fd6cb8c5571"/>
    <ds:schemaRef ds:uri="38de0ec0-4312-429b-9ba4-a6f7899b86f2"/>
  </ds:schemaRefs>
</ds:datastoreItem>
</file>

<file path=customXml/itemProps3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38de0ec0-4312-429b-9ba4-a6f7899b86f2"/>
    <ds:schemaRef ds:uri="21705155-b4ce-4c69-95dc-4fd6cb8c5571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Widescreen</PresentationFormat>
  <Paragraphs>129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ABC Church  System Designs </vt:lpstr>
      <vt:lpstr>Agenda</vt:lpstr>
      <vt:lpstr>System Improvements Needs</vt:lpstr>
      <vt:lpstr>Option 1 – Add on to legacy system</vt:lpstr>
      <vt:lpstr>Option 2  - Cloud based provider</vt:lpstr>
      <vt:lpstr>ABC Church Layout</vt:lpstr>
      <vt:lpstr>Takeaways &amp; Suggestions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Church  System Designs </dc:title>
  <dc:creator/>
  <cp:lastModifiedBy>Taki Swanson</cp:lastModifiedBy>
  <cp:revision>69</cp:revision>
  <dcterms:created xsi:type="dcterms:W3CDTF">2026-04-27T13:22:24Z</dcterms:created>
  <dcterms:modified xsi:type="dcterms:W3CDTF">2026-04-28T09:14:16Z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